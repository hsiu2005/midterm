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E408-4B6B-43B7-923A-FFDC7002A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5F453C-16F2-4359-B71D-14EB185E3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49E44-B1C6-4F7F-8FF0-0E9F038E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0F5391-7306-4647-A067-29F4444D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FAB792-D4E4-40C8-A716-54BE60EA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17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E5CBE-DCBD-4640-864B-01C2FE7D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843D9-EBDA-4B82-8980-4E6AF8ABB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2E7C3-EDCF-4BAF-B182-16DE720C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EFE05-2F14-4F67-A00D-F6E03385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7E08FA-40BD-469B-A5A9-AA70467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B0EBF-26DD-4F63-AC9C-30D4255D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5D428F-29F5-4D31-8703-C3845BF2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0320D4-815D-4B4C-A367-AE928012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3DCC5-9E78-45D4-BA7B-CBA134BA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0EE57E-6F04-4576-9E46-34C5B1D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EB7E6-1E9B-4AF8-8DC0-B58A8955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2D2519-0479-4807-825F-009CB314C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BCEA58-10BF-4B41-90DE-5F25CDA2F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CD1DCC-BA16-43D1-B0C3-B9EEB5F6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C31962-D235-4841-B66D-21E9046B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9E8481-AFEA-43FF-B035-B812A789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9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11627-6BA9-461F-A50F-4665B7A1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F21D54-37EC-4DA8-9891-014B9032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E4604-AC78-4716-95E5-D6A652C7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1E87E8-8504-4E65-9FF2-448BCF6F3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36BFEA-7FB7-4B19-81B0-2E272CED8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551D51-1858-4D1F-83E4-05AEBD0A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CCF023-DA47-4E96-91F0-63A8C5BF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2FED41-6FFE-42FD-9D19-80D8B27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4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8FBAC-CBD5-403A-8DE1-DC6C521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24FA3B-F07A-4C45-96B8-ABE67E74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861304-7AF1-4D8C-92DA-B10BF9E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5231F3-4233-4B52-A216-3753977D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8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4D5BBA-D7B7-4117-BDC0-C8CD33B7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708F1F5-5680-4747-88F0-8D41C2C6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53A6F6-F3B3-4395-A1C8-260F782C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98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44DB6-A786-4011-867F-22B22D0E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A907A5-1905-4037-B34F-A2977B91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0ECBE-6504-4156-9285-9DAF93F7D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95E446-1195-4CCD-B3B9-52B732A9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1B9576-646C-4410-830E-0B2BCFAB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46BE85-343D-4293-B650-849D3F30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0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C04ED-056D-47EC-AE6E-8DF432A8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20C4F3-7E6A-4FCE-BE71-170F70C79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8759BE-A2CA-415A-A2C5-0D2EF4C88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3FB8D6-C5E0-4914-A65A-16E14A9E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708CF9-DA8A-48EC-A219-1A955514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2773E5-4202-400B-9490-B5319B1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2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12B10-B71D-4C3F-9D6D-46DC1B63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4818BF-404D-4388-98FF-AC592D43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FA41CB-2069-4A23-A4CE-210800E8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F1600E-CEB4-4DEC-9BFE-75D95D02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AC5D9-565A-4C3A-9D89-D98239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48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87FF684-0951-471A-B69A-C8EB3FBED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D79A92-C7AA-4085-B5A8-1D3230EB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3984D-9D6D-4492-A4D3-8E914EB9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56B735-161B-4AC1-98DA-75893D2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54617F-5830-4A1C-9724-1C3F02DC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0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84925-B8CE-4ED5-9913-9E14F05B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4211A5-AC89-4198-A962-3BBAB4CA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C4419E-92AC-4405-BA46-5E207EC3B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1048-B5EE-464D-BF25-311ADEDFEC0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694E0-A0CA-4D7A-9321-5C93158E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59BF69-E45E-464D-BD94-B8A39A9B6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2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34813-40B0-4E76-B620-FFD774BC8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1141</a:t>
            </a:r>
            <a:r>
              <a:rPr lang="zh-TW" altLang="en-US" dirty="0"/>
              <a:t> </a:t>
            </a:r>
            <a:r>
              <a:rPr lang="en-US" altLang="zh-TW" dirty="0"/>
              <a:t>SE</a:t>
            </a:r>
            <a:r>
              <a:rPr lang="zh-TW" altLang="en-US" dirty="0"/>
              <a:t> 個人實作專題需求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C18994-1EAA-412F-BE43-1E323F9F9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5EF94-06CB-40B6-B283-236F1B14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工作委託平台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3CF6A-ED27-4B14-ACDC-220C833F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兩個角色，系統需提供帳號註冊、登入登出功能</a:t>
            </a:r>
            <a:endParaRPr lang="en-US" altLang="zh-TW" dirty="0"/>
          </a:p>
          <a:p>
            <a:r>
              <a:rPr lang="zh-TW" altLang="en-US" dirty="0"/>
              <a:t>委託人</a:t>
            </a:r>
            <a:endParaRPr lang="en-US" altLang="zh-TW" dirty="0"/>
          </a:p>
          <a:p>
            <a:pPr lvl="1"/>
            <a:r>
              <a:rPr lang="zh-TW" altLang="en-US" dirty="0"/>
              <a:t>建立</a:t>
            </a:r>
            <a:r>
              <a:rPr lang="en-US" altLang="zh-TW" dirty="0"/>
              <a:t>/</a:t>
            </a:r>
            <a:r>
              <a:rPr lang="zh-TW" altLang="en-US" dirty="0"/>
              <a:t>修改 待委託專案需求</a:t>
            </a:r>
            <a:endParaRPr lang="en-US" altLang="zh-TW" dirty="0"/>
          </a:p>
          <a:p>
            <a:pPr lvl="1"/>
            <a:r>
              <a:rPr lang="zh-TW" altLang="en-US" dirty="0"/>
              <a:t>選擇委託對象</a:t>
            </a:r>
            <a:endParaRPr lang="en-US" altLang="zh-TW" dirty="0"/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結案管理</a:t>
            </a:r>
            <a:r>
              <a:rPr lang="en-US" altLang="zh-TW" dirty="0"/>
              <a:t>(</a:t>
            </a:r>
            <a:r>
              <a:rPr lang="zh-TW" altLang="en-US" dirty="0"/>
              <a:t>退件、接受結案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r>
              <a:rPr lang="zh-TW" altLang="en-US" dirty="0"/>
              <a:t>接案人</a:t>
            </a:r>
            <a:endParaRPr lang="en-US" altLang="zh-TW" dirty="0"/>
          </a:p>
          <a:p>
            <a:pPr lvl="1"/>
            <a:r>
              <a:rPr lang="zh-TW" altLang="en-US" dirty="0"/>
              <a:t>查詢</a:t>
            </a:r>
            <a:r>
              <a:rPr lang="en-US" altLang="zh-TW" dirty="0"/>
              <a:t>/</a:t>
            </a:r>
            <a:r>
              <a:rPr lang="zh-TW" altLang="en-US" dirty="0"/>
              <a:t>觀看委託專案</a:t>
            </a:r>
            <a:endParaRPr lang="en-US" altLang="zh-TW" dirty="0"/>
          </a:p>
          <a:p>
            <a:pPr lvl="1"/>
            <a:r>
              <a:rPr lang="zh-TW" altLang="en-US" dirty="0"/>
              <a:t>提出承包意願</a:t>
            </a:r>
            <a:r>
              <a:rPr lang="en-US" altLang="zh-TW" dirty="0"/>
              <a:t>(</a:t>
            </a:r>
            <a:r>
              <a:rPr lang="zh-TW" altLang="en-US" dirty="0"/>
              <a:t>含報價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上傳結案檔案</a:t>
            </a:r>
            <a:endParaRPr lang="en-US" altLang="zh-TW" dirty="0"/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163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圓形, 寫生, 黑與白, 設計 的圖片&#10;&#10;AI 產生的內容可能不正確。">
            <a:extLst>
              <a:ext uri="{FF2B5EF4-FFF2-40B4-BE49-F238E27FC236}">
                <a16:creationId xmlns:a16="http://schemas.microsoft.com/office/drawing/2014/main" id="{8DFD069D-D3F3-FC98-E215-706B275C1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3" y="809824"/>
            <a:ext cx="2004961" cy="200496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468D865-0D1A-6276-A7D4-C0F2FC6A231C}"/>
              </a:ext>
            </a:extLst>
          </p:cNvPr>
          <p:cNvSpPr txBox="1"/>
          <p:nvPr/>
        </p:nvSpPr>
        <p:spPr>
          <a:xfrm>
            <a:off x="1116778" y="2946027"/>
            <a:ext cx="120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委託人</a:t>
            </a:r>
            <a:r>
              <a:rPr lang="en-US" altLang="zh-TW" dirty="0"/>
              <a:t>(</a:t>
            </a:r>
            <a:r>
              <a:rPr lang="zh-TW" altLang="en-US" dirty="0"/>
              <a:t>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B4AF73D-31CD-06E4-3AF5-E8A6381EBE53}"/>
              </a:ext>
            </a:extLst>
          </p:cNvPr>
          <p:cNvSpPr txBox="1"/>
          <p:nvPr/>
        </p:nvSpPr>
        <p:spPr>
          <a:xfrm>
            <a:off x="3165988" y="879453"/>
            <a:ext cx="70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決定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870511F-D8D8-9D44-8446-78B77188A680}"/>
              </a:ext>
            </a:extLst>
          </p:cNvPr>
          <p:cNvSpPr txBox="1"/>
          <p:nvPr/>
        </p:nvSpPr>
        <p:spPr>
          <a:xfrm>
            <a:off x="3165987" y="3582397"/>
            <a:ext cx="143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列出需求案</a:t>
            </a:r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1AE30C-0EE5-C105-75C2-C9EB433E6586}"/>
              </a:ext>
            </a:extLst>
          </p:cNvPr>
          <p:cNvSpPr txBox="1"/>
          <p:nvPr/>
        </p:nvSpPr>
        <p:spPr>
          <a:xfrm>
            <a:off x="1116778" y="5582806"/>
            <a:ext cx="123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承包人</a:t>
            </a:r>
            <a:r>
              <a:rPr lang="en-US" altLang="zh-TW" dirty="0"/>
              <a:t>(</a:t>
            </a:r>
            <a:r>
              <a:rPr lang="zh-TW" altLang="en-US" dirty="0"/>
              <a:t>乙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圖片 8" descr="一張含有 圓形, 寫生, 黑與白, 設計 的圖片&#10;&#10;AI 產生的內容可能不正確。">
            <a:extLst>
              <a:ext uri="{FF2B5EF4-FFF2-40B4-BE49-F238E27FC236}">
                <a16:creationId xmlns:a16="http://schemas.microsoft.com/office/drawing/2014/main" id="{4034AFD3-26A5-3C2E-9726-6307D6DC0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3" y="3446602"/>
            <a:ext cx="2004961" cy="200496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9C6926-244C-A8F5-674B-CF8E1E79A737}"/>
              </a:ext>
            </a:extLst>
          </p:cNvPr>
          <p:cNvSpPr txBox="1"/>
          <p:nvPr/>
        </p:nvSpPr>
        <p:spPr>
          <a:xfrm>
            <a:off x="3165988" y="1348255"/>
            <a:ext cx="1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提需求案</a:t>
            </a:r>
            <a:endParaRPr lang="en-US" altLang="zh-TW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47162FF-5738-B51E-7CC5-5288954AFED7}"/>
              </a:ext>
            </a:extLst>
          </p:cNvPr>
          <p:cNvSpPr txBox="1"/>
          <p:nvPr/>
        </p:nvSpPr>
        <p:spPr>
          <a:xfrm>
            <a:off x="3165987" y="1817057"/>
            <a:ext cx="2004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查看需求案狀態</a:t>
            </a:r>
            <a:endParaRPr lang="en-US" altLang="zh-TW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07FB10F-3F1A-5D14-611D-563BCE01B212}"/>
              </a:ext>
            </a:extLst>
          </p:cNvPr>
          <p:cNvSpPr txBox="1"/>
          <p:nvPr/>
        </p:nvSpPr>
        <p:spPr>
          <a:xfrm>
            <a:off x="3186471" y="2385329"/>
            <a:ext cx="1120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接受報價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208FF17-F1B1-649B-EFF1-0CBBB8895AA8}"/>
              </a:ext>
            </a:extLst>
          </p:cNvPr>
          <p:cNvSpPr txBox="1"/>
          <p:nvPr/>
        </p:nvSpPr>
        <p:spPr>
          <a:xfrm>
            <a:off x="3186471" y="3972593"/>
            <a:ext cx="1120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提出報價</a:t>
            </a:r>
            <a:endParaRPr lang="en-US" altLang="zh-TW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4DCB18B-0E7E-83FE-5FFA-0D610847FD51}"/>
              </a:ext>
            </a:extLst>
          </p:cNvPr>
          <p:cNvSpPr txBox="1"/>
          <p:nvPr/>
        </p:nvSpPr>
        <p:spPr>
          <a:xfrm>
            <a:off x="3165987" y="4415792"/>
            <a:ext cx="292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查看接案狀態</a:t>
            </a:r>
            <a:r>
              <a:rPr lang="en-US" altLang="zh-TW" dirty="0"/>
              <a:t>(</a:t>
            </a:r>
            <a:r>
              <a:rPr lang="zh-TW" altLang="en-US" dirty="0"/>
              <a:t>接受或拒絕</a:t>
            </a:r>
            <a:r>
              <a:rPr lang="en-US" altLang="zh-TW" dirty="0"/>
              <a:t>)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ADDDABA-C8DF-8447-1004-B2453E1A6401}"/>
              </a:ext>
            </a:extLst>
          </p:cNvPr>
          <p:cNvSpPr txBox="1"/>
          <p:nvPr/>
        </p:nvSpPr>
        <p:spPr>
          <a:xfrm>
            <a:off x="3186471" y="4858991"/>
            <a:ext cx="1818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上傳結案檔案</a:t>
            </a:r>
            <a:endParaRPr lang="en-US" altLang="zh-TW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7451509-E89B-2F60-9FE0-BCE4AFF32CCD}"/>
              </a:ext>
            </a:extLst>
          </p:cNvPr>
          <p:cNvSpPr txBox="1"/>
          <p:nvPr/>
        </p:nvSpPr>
        <p:spPr>
          <a:xfrm>
            <a:off x="5526550" y="1445012"/>
            <a:ext cx="893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UI flow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8565F6E-969F-514A-B110-91ABD9697170}"/>
              </a:ext>
            </a:extLst>
          </p:cNvPr>
          <p:cNvSpPr txBox="1"/>
          <p:nvPr/>
        </p:nvSpPr>
        <p:spPr>
          <a:xfrm>
            <a:off x="5526550" y="1865004"/>
            <a:ext cx="3469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Database </a:t>
            </a:r>
            <a:r>
              <a:rPr lang="zh-TW" altLang="en-US" dirty="0"/>
              <a:t>設計 </a:t>
            </a:r>
            <a:r>
              <a:rPr lang="en-US" altLang="zh-TW" dirty="0"/>
              <a:t>&gt;&gt;</a:t>
            </a:r>
            <a:r>
              <a:rPr lang="zh-TW" altLang="en-US" dirty="0"/>
              <a:t> </a:t>
            </a:r>
            <a:r>
              <a:rPr lang="en-US" altLang="zh-TW" dirty="0"/>
              <a:t>Domain Object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37CDEA1-C786-CA03-5EAD-3108358347FC}"/>
              </a:ext>
            </a:extLst>
          </p:cNvPr>
          <p:cNvSpPr txBox="1"/>
          <p:nvPr/>
        </p:nvSpPr>
        <p:spPr>
          <a:xfrm>
            <a:off x="7231628" y="2234336"/>
            <a:ext cx="130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需求案 </a:t>
            </a:r>
            <a:r>
              <a:rPr lang="en-US" altLang="zh-TW" dirty="0"/>
              <a:t>&gt;&gt;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6778C9E-4A0A-67BF-583B-8713D06D5280}"/>
              </a:ext>
            </a:extLst>
          </p:cNvPr>
          <p:cNvSpPr txBox="1"/>
          <p:nvPr/>
        </p:nvSpPr>
        <p:spPr>
          <a:xfrm>
            <a:off x="8259918" y="2234336"/>
            <a:ext cx="3884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Data(</a:t>
            </a:r>
            <a:r>
              <a:rPr lang="zh-TW" altLang="en-US" dirty="0"/>
              <a:t>像內容說明和委託人等</a:t>
            </a:r>
            <a:r>
              <a:rPr lang="en-US" altLang="zh-TW" dirty="0"/>
              <a:t>...)</a:t>
            </a:r>
          </a:p>
          <a:p>
            <a:pPr lvl="1"/>
            <a:r>
              <a:rPr lang="en-US" altLang="zh-TW" dirty="0"/>
              <a:t>&gt;&gt; Database</a:t>
            </a:r>
            <a:r>
              <a:rPr lang="zh-TW" altLang="en-US" dirty="0"/>
              <a:t>和</a:t>
            </a:r>
            <a:r>
              <a:rPr lang="en-US" altLang="zh-TW" dirty="0"/>
              <a:t>Schema</a:t>
            </a:r>
          </a:p>
          <a:p>
            <a:pPr marL="342900" indent="-342900">
              <a:buAutoNum type="arabicPeriod"/>
            </a:pPr>
            <a:r>
              <a:rPr lang="zh-TW" altLang="en-US" dirty="0"/>
              <a:t>對 </a:t>
            </a:r>
            <a:r>
              <a:rPr lang="en-US" altLang="zh-TW" dirty="0"/>
              <a:t>object </a:t>
            </a:r>
            <a:r>
              <a:rPr lang="zh-TW" altLang="en-US" dirty="0"/>
              <a:t>做何種操作</a:t>
            </a:r>
            <a:endParaRPr lang="en-US" altLang="zh-TW" dirty="0"/>
          </a:p>
          <a:p>
            <a:pPr lvl="1"/>
            <a:r>
              <a:rPr lang="en-US" altLang="zh-TW" dirty="0"/>
              <a:t>Add</a:t>
            </a:r>
          </a:p>
          <a:p>
            <a:pPr lvl="1"/>
            <a:r>
              <a:rPr lang="en-US" altLang="zh-TW" dirty="0"/>
              <a:t>Del</a:t>
            </a:r>
          </a:p>
          <a:p>
            <a:pPr lvl="1"/>
            <a:r>
              <a:rPr lang="en-US" altLang="zh-TW" dirty="0" err="1"/>
              <a:t>Upd</a:t>
            </a:r>
            <a:r>
              <a:rPr lang="en-US" altLang="zh-TW" dirty="0"/>
              <a:t>(Update)</a:t>
            </a:r>
          </a:p>
          <a:p>
            <a:pPr lvl="1"/>
            <a:r>
              <a:rPr lang="en-US" altLang="zh-TW" dirty="0"/>
              <a:t>Select 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01E429-A5F1-55DA-7972-50F0E048790B}"/>
              </a:ext>
            </a:extLst>
          </p:cNvPr>
          <p:cNvSpPr/>
          <p:nvPr/>
        </p:nvSpPr>
        <p:spPr>
          <a:xfrm>
            <a:off x="8259918" y="2814785"/>
            <a:ext cx="3784598" cy="145087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4BD66B-AAEF-0D1C-578A-5964B8CDCED8}"/>
              </a:ext>
            </a:extLst>
          </p:cNvPr>
          <p:cNvSpPr txBox="1"/>
          <p:nvPr/>
        </p:nvSpPr>
        <p:spPr>
          <a:xfrm>
            <a:off x="10202198" y="3355557"/>
            <a:ext cx="200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&gt;&gt; MVC &gt;&gt; Model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6CDE5F-5AEE-31A4-A739-1822F84D1568}"/>
              </a:ext>
            </a:extLst>
          </p:cNvPr>
          <p:cNvSpPr/>
          <p:nvPr/>
        </p:nvSpPr>
        <p:spPr>
          <a:xfrm>
            <a:off x="5084923" y="5199550"/>
            <a:ext cx="461295" cy="47525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4186A24-C608-6DB4-A2CF-3BDCB7CAA213}"/>
              </a:ext>
            </a:extLst>
          </p:cNvPr>
          <p:cNvSpPr txBox="1"/>
          <p:nvPr/>
        </p:nvSpPr>
        <p:spPr>
          <a:xfrm>
            <a:off x="5115241" y="5249187"/>
            <a:ext cx="46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UI</a:t>
            </a:r>
            <a:endParaRPr lang="zh-TW" altLang="en-US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D6EDCE9-0052-2288-C11E-AF44D0F51DE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546218" y="5437177"/>
            <a:ext cx="5219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58A5F8E-1054-2480-9CBB-673E79A0FB49}"/>
              </a:ext>
            </a:extLst>
          </p:cNvPr>
          <p:cNvSpPr txBox="1"/>
          <p:nvPr/>
        </p:nvSpPr>
        <p:spPr>
          <a:xfrm>
            <a:off x="6105835" y="4712899"/>
            <a:ext cx="15338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處理 </a:t>
            </a:r>
            <a:r>
              <a:rPr lang="en-US" altLang="zh-TW" dirty="0"/>
              <a:t>Request</a:t>
            </a:r>
          </a:p>
          <a:p>
            <a:r>
              <a:rPr lang="en-US" altLang="zh-TW" dirty="0"/>
              <a:t>Logic</a:t>
            </a:r>
          </a:p>
          <a:p>
            <a:r>
              <a:rPr lang="en-US" altLang="zh-TW" dirty="0"/>
              <a:t>Controller</a:t>
            </a:r>
          </a:p>
          <a:p>
            <a:r>
              <a:rPr lang="en-US" altLang="zh-TW" dirty="0"/>
              <a:t>/</a:t>
            </a:r>
            <a:r>
              <a:rPr lang="en-US" altLang="zh-TW" dirty="0" err="1"/>
              <a:t>aaa</a:t>
            </a:r>
            <a:endParaRPr lang="en-US" altLang="zh-TW" dirty="0"/>
          </a:p>
          <a:p>
            <a:r>
              <a:rPr lang="en-US" altLang="zh-TW" dirty="0"/>
              <a:t>/</a:t>
            </a:r>
            <a:r>
              <a:rPr lang="en-US" altLang="zh-TW" dirty="0" err="1"/>
              <a:t>bbb</a:t>
            </a:r>
            <a:endParaRPr lang="zh-TW" altLang="en-US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9D3EC479-62CA-26BE-74A1-5DAB1D9AF185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816941" y="1064119"/>
            <a:ext cx="349047" cy="565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95D5F4DE-EDA7-5149-A502-3AC5EF5402CD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763682" y="1532921"/>
            <a:ext cx="402306" cy="468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08AACF9A-5595-6C50-C38C-27E45AE19D4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798915" y="2001723"/>
            <a:ext cx="367072" cy="137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078000BF-229A-67C8-C6A3-318DDABF180E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798914" y="2471468"/>
            <a:ext cx="387557" cy="98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650D2ED3-0E2C-E3E2-6ECF-1B0C012303A2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810386" y="3767063"/>
            <a:ext cx="355601" cy="468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03C0E757-61E6-892B-1A72-5CDF85935CA6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776381" y="4157259"/>
            <a:ext cx="410090" cy="355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75CD3C94-0411-99DE-649D-3C046C25A14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16941" y="4600458"/>
            <a:ext cx="349046" cy="25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0DC13B8E-4427-BE2C-BFFF-9874E6A6F50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2810386" y="4902472"/>
            <a:ext cx="376085" cy="14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0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468D130-A931-0F65-E777-C96FD50090DD}"/>
              </a:ext>
            </a:extLst>
          </p:cNvPr>
          <p:cNvSpPr txBox="1"/>
          <p:nvPr/>
        </p:nvSpPr>
        <p:spPr>
          <a:xfrm>
            <a:off x="410253" y="281453"/>
            <a:ext cx="120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委託人</a:t>
            </a:r>
            <a:r>
              <a:rPr lang="en-US" altLang="zh-TW" dirty="0"/>
              <a:t>(</a:t>
            </a:r>
            <a:r>
              <a:rPr lang="zh-TW" altLang="en-US" dirty="0"/>
              <a:t>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B5EDE6-7ECA-3CBA-57B3-3E1408B5C7D7}"/>
              </a:ext>
            </a:extLst>
          </p:cNvPr>
          <p:cNvSpPr/>
          <p:nvPr/>
        </p:nvSpPr>
        <p:spPr>
          <a:xfrm>
            <a:off x="482602" y="748552"/>
            <a:ext cx="1601837" cy="21362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D26364-C824-B74A-1F7F-1C2EF56A561A}"/>
              </a:ext>
            </a:extLst>
          </p:cNvPr>
          <p:cNvSpPr/>
          <p:nvPr/>
        </p:nvSpPr>
        <p:spPr>
          <a:xfrm>
            <a:off x="1682962" y="2479918"/>
            <a:ext cx="401477" cy="404837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加號 5">
            <a:extLst>
              <a:ext uri="{FF2B5EF4-FFF2-40B4-BE49-F238E27FC236}">
                <a16:creationId xmlns:a16="http://schemas.microsoft.com/office/drawing/2014/main" id="{755489A1-62AC-A735-3A1B-A9FFE5F6F867}"/>
              </a:ext>
            </a:extLst>
          </p:cNvPr>
          <p:cNvSpPr/>
          <p:nvPr/>
        </p:nvSpPr>
        <p:spPr>
          <a:xfrm>
            <a:off x="1731300" y="2529079"/>
            <a:ext cx="304800" cy="294967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2E3840-D271-8CFA-118D-37C0762D75B6}"/>
              </a:ext>
            </a:extLst>
          </p:cNvPr>
          <p:cNvSpPr txBox="1"/>
          <p:nvPr/>
        </p:nvSpPr>
        <p:spPr>
          <a:xfrm>
            <a:off x="551427" y="872464"/>
            <a:ext cx="1601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Title status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187DE00-5D50-7D8A-FDD8-C8DBCFBAAEE1}"/>
              </a:ext>
            </a:extLst>
          </p:cNvPr>
          <p:cNvCxnSpPr>
            <a:cxnSpLocks/>
            <a:stCxn id="6" idx="0"/>
            <a:endCxn id="10" idx="1"/>
          </p:cNvCxnSpPr>
          <p:nvPr/>
        </p:nvCxnSpPr>
        <p:spPr>
          <a:xfrm flipV="1">
            <a:off x="1995699" y="466812"/>
            <a:ext cx="1285991" cy="2209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C7CEFE-7453-35A4-39BB-1B160AC4A637}"/>
              </a:ext>
            </a:extLst>
          </p:cNvPr>
          <p:cNvSpPr txBox="1"/>
          <p:nvPr/>
        </p:nvSpPr>
        <p:spPr>
          <a:xfrm>
            <a:off x="3281690" y="282146"/>
            <a:ext cx="1158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Add Form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E46D91-39BD-6825-4169-918707B70B3D}"/>
              </a:ext>
            </a:extLst>
          </p:cNvPr>
          <p:cNvSpPr/>
          <p:nvPr/>
        </p:nvSpPr>
        <p:spPr>
          <a:xfrm>
            <a:off x="3281690" y="675177"/>
            <a:ext cx="1876316" cy="238458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87FD73B-4300-6369-BF79-B5713D9573D1}"/>
              </a:ext>
            </a:extLst>
          </p:cNvPr>
          <p:cNvSpPr txBox="1"/>
          <p:nvPr/>
        </p:nvSpPr>
        <p:spPr>
          <a:xfrm>
            <a:off x="3270215" y="753644"/>
            <a:ext cx="7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Title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2F27792-B240-4C5A-0CCC-5773FE35606D}"/>
              </a:ext>
            </a:extLst>
          </p:cNvPr>
          <p:cNvSpPr txBox="1"/>
          <p:nvPr/>
        </p:nvSpPr>
        <p:spPr>
          <a:xfrm>
            <a:off x="3270215" y="1040476"/>
            <a:ext cx="105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Content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5C8888B-3C52-1162-7568-FFF99B8D8F3B}"/>
              </a:ext>
            </a:extLst>
          </p:cNvPr>
          <p:cNvSpPr txBox="1"/>
          <p:nvPr/>
        </p:nvSpPr>
        <p:spPr>
          <a:xfrm>
            <a:off x="3281690" y="2057338"/>
            <a:ext cx="1280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委託人</a:t>
            </a:r>
            <a:endParaRPr lang="en-US" altLang="zh-TW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D1558D-42A3-FB86-AF5B-6C12DB3385D4}"/>
              </a:ext>
            </a:extLst>
          </p:cNvPr>
          <p:cNvSpPr/>
          <p:nvPr/>
        </p:nvSpPr>
        <p:spPr>
          <a:xfrm>
            <a:off x="4561778" y="2644923"/>
            <a:ext cx="538056" cy="34946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4C848FF-5E7A-EBE7-1A12-1B55B021CE87}"/>
              </a:ext>
            </a:extLst>
          </p:cNvPr>
          <p:cNvSpPr txBox="1"/>
          <p:nvPr/>
        </p:nvSpPr>
        <p:spPr>
          <a:xfrm>
            <a:off x="4561778" y="2684252"/>
            <a:ext cx="516731" cy="27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送出</a:t>
            </a:r>
            <a:endParaRPr lang="en-US" altLang="zh-TW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D285F9-1284-4F94-565D-8C5D6C8976E0}"/>
              </a:ext>
            </a:extLst>
          </p:cNvPr>
          <p:cNvSpPr/>
          <p:nvPr/>
        </p:nvSpPr>
        <p:spPr>
          <a:xfrm>
            <a:off x="4219044" y="2155189"/>
            <a:ext cx="880790" cy="251607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0C04BC-1347-85BD-D6B1-018845232444}"/>
              </a:ext>
            </a:extLst>
          </p:cNvPr>
          <p:cNvSpPr/>
          <p:nvPr/>
        </p:nvSpPr>
        <p:spPr>
          <a:xfrm>
            <a:off x="4197719" y="842218"/>
            <a:ext cx="880790" cy="251607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A642C9-3C26-2DAC-6176-928388ED855E}"/>
              </a:ext>
            </a:extLst>
          </p:cNvPr>
          <p:cNvSpPr/>
          <p:nvPr/>
        </p:nvSpPr>
        <p:spPr>
          <a:xfrm>
            <a:off x="3420575" y="1424250"/>
            <a:ext cx="1657934" cy="59819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EE90B79-56AB-C11B-8D77-CE917C34E8E0}"/>
              </a:ext>
            </a:extLst>
          </p:cNvPr>
          <p:cNvSpPr txBox="1"/>
          <p:nvPr/>
        </p:nvSpPr>
        <p:spPr>
          <a:xfrm>
            <a:off x="9243147" y="486657"/>
            <a:ext cx="1601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Domain Object</a:t>
            </a:r>
          </a:p>
          <a:p>
            <a:r>
              <a:rPr lang="en-US" altLang="zh-TW" dirty="0"/>
              <a:t>Jobs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0132C3A-FB45-ABFA-1007-DC06D301DEF5}"/>
              </a:ext>
            </a:extLst>
          </p:cNvPr>
          <p:cNvSpPr txBox="1"/>
          <p:nvPr/>
        </p:nvSpPr>
        <p:spPr>
          <a:xfrm>
            <a:off x="9243147" y="1180775"/>
            <a:ext cx="26932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PK: </a:t>
            </a:r>
            <a:r>
              <a:rPr lang="zh-TW" altLang="en-US" dirty="0"/>
              <a:t>流水號</a:t>
            </a:r>
            <a:endParaRPr lang="en-US" altLang="zh-TW" dirty="0"/>
          </a:p>
          <a:p>
            <a:r>
              <a:rPr lang="zh-TW" altLang="en-US" dirty="0"/>
              <a:t>       </a:t>
            </a:r>
            <a:r>
              <a:rPr lang="en-US" altLang="zh-TW" dirty="0"/>
              <a:t>Title           varchar</a:t>
            </a:r>
          </a:p>
          <a:p>
            <a:r>
              <a:rPr lang="en-US" altLang="zh-TW" dirty="0"/>
              <a:t>       Content     text</a:t>
            </a:r>
          </a:p>
          <a:p>
            <a:r>
              <a:rPr lang="en-US" altLang="zh-TW" dirty="0"/>
              <a:t>FK: </a:t>
            </a:r>
            <a:r>
              <a:rPr lang="zh-TW" altLang="en-US" dirty="0"/>
              <a:t>委託人</a:t>
            </a:r>
            <a:r>
              <a:rPr lang="en-US" altLang="zh-TW" dirty="0"/>
              <a:t>ID   int</a:t>
            </a:r>
          </a:p>
          <a:p>
            <a:r>
              <a:rPr lang="en-US" altLang="zh-TW" dirty="0"/>
              <a:t>      status</a:t>
            </a:r>
          </a:p>
          <a:p>
            <a:r>
              <a:rPr lang="en-US" altLang="zh-TW" dirty="0"/>
              <a:t>      [</a:t>
            </a:r>
            <a:r>
              <a:rPr lang="zh-TW" altLang="en-US" dirty="0"/>
              <a:t>報價 </a:t>
            </a:r>
            <a:r>
              <a:rPr lang="en-US" altLang="zh-TW" dirty="0"/>
              <a:t>+ </a:t>
            </a:r>
            <a:r>
              <a:rPr lang="zh-TW" altLang="en-US" dirty="0"/>
              <a:t>承包人</a:t>
            </a:r>
            <a:r>
              <a:rPr lang="en-US" altLang="zh-TW" dirty="0"/>
              <a:t>ID]</a:t>
            </a:r>
          </a:p>
          <a:p>
            <a:r>
              <a:rPr lang="en-US" altLang="zh-TW" dirty="0"/>
              <a:t>      </a:t>
            </a:r>
            <a:r>
              <a:rPr lang="zh-TW" altLang="en-US" b="1" dirty="0">
                <a:solidFill>
                  <a:srgbClr val="0070C0"/>
                </a:solidFill>
              </a:rPr>
              <a:t>上傳結案報告</a:t>
            </a:r>
            <a:endParaRPr lang="en-US" altLang="zh-TW" b="1" dirty="0">
              <a:solidFill>
                <a:srgbClr val="0070C0"/>
              </a:solidFill>
            </a:endParaRP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8972C330-3DF7-C929-48DC-781345FED571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236193" y="1355677"/>
            <a:ext cx="221450" cy="2191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7ABAD028-A254-DDF4-D457-5F3D02E80AD2}"/>
              </a:ext>
            </a:extLst>
          </p:cNvPr>
          <p:cNvSpPr/>
          <p:nvPr/>
        </p:nvSpPr>
        <p:spPr>
          <a:xfrm>
            <a:off x="494668" y="3916890"/>
            <a:ext cx="1601837" cy="289677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1CEAB48-426B-97E9-CFCF-1AD900828A63}"/>
              </a:ext>
            </a:extLst>
          </p:cNvPr>
          <p:cNvSpPr txBox="1"/>
          <p:nvPr/>
        </p:nvSpPr>
        <p:spPr>
          <a:xfrm>
            <a:off x="467443" y="3547557"/>
            <a:ext cx="1537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Show Detail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52D728-7166-FC60-C38E-7EE7AEEB9C0D}"/>
              </a:ext>
            </a:extLst>
          </p:cNvPr>
          <p:cNvSpPr/>
          <p:nvPr/>
        </p:nvSpPr>
        <p:spPr>
          <a:xfrm>
            <a:off x="2291898" y="4492040"/>
            <a:ext cx="1601837" cy="21362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C5FAD3-5615-6DAB-1CED-6E2FFA7ECC77}"/>
              </a:ext>
            </a:extLst>
          </p:cNvPr>
          <p:cNvSpPr/>
          <p:nvPr/>
        </p:nvSpPr>
        <p:spPr>
          <a:xfrm>
            <a:off x="4094939" y="3510892"/>
            <a:ext cx="1601837" cy="21362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47930BE-004E-1AEE-2078-B82F8E514C66}"/>
              </a:ext>
            </a:extLst>
          </p:cNvPr>
          <p:cNvSpPr txBox="1"/>
          <p:nvPr/>
        </p:nvSpPr>
        <p:spPr>
          <a:xfrm>
            <a:off x="4073614" y="3547557"/>
            <a:ext cx="1601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歷史紀錄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…… status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9347EE0-2337-893C-1BF4-635EF451D470}"/>
              </a:ext>
            </a:extLst>
          </p:cNvPr>
          <p:cNvSpPr txBox="1"/>
          <p:nvPr/>
        </p:nvSpPr>
        <p:spPr>
          <a:xfrm>
            <a:off x="2303373" y="4578993"/>
            <a:ext cx="1601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  <a:p>
            <a:pPr marL="342900" indent="-342900">
              <a:buAutoNum type="arabicPeriod"/>
            </a:pPr>
            <a:r>
              <a:rPr lang="en-US" altLang="zh-TW" dirty="0"/>
              <a:t>…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512071A-8076-5681-4BE7-EC9A24E4E4BE}"/>
              </a:ext>
            </a:extLst>
          </p:cNvPr>
          <p:cNvSpPr txBox="1"/>
          <p:nvPr/>
        </p:nvSpPr>
        <p:spPr>
          <a:xfrm>
            <a:off x="4255509" y="5683760"/>
            <a:ext cx="123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承包人</a:t>
            </a:r>
            <a:r>
              <a:rPr lang="en-US" altLang="zh-TW" dirty="0"/>
              <a:t>(</a:t>
            </a:r>
            <a:r>
              <a:rPr lang="zh-TW" altLang="en-US" dirty="0"/>
              <a:t>乙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6F95D76-BD76-EAB2-32B4-B8B9212F61C6}"/>
              </a:ext>
            </a:extLst>
          </p:cNvPr>
          <p:cNvCxnSpPr>
            <a:stCxn id="11" idx="1"/>
            <a:endCxn id="4" idx="3"/>
          </p:cNvCxnSpPr>
          <p:nvPr/>
        </p:nvCxnSpPr>
        <p:spPr>
          <a:xfrm flipH="1" flipV="1">
            <a:off x="2084439" y="1816654"/>
            <a:ext cx="1197251" cy="50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581D0479-6659-CB19-E92B-A78E62ABFEE1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2096505" y="5365276"/>
            <a:ext cx="195393" cy="194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D1769B25-8F77-3FE2-6258-2E544870F678}"/>
              </a:ext>
            </a:extLst>
          </p:cNvPr>
          <p:cNvCxnSpPr>
            <a:cxnSpLocks/>
            <a:stCxn id="38" idx="1"/>
            <a:endCxn id="31" idx="0"/>
          </p:cNvCxnSpPr>
          <p:nvPr/>
        </p:nvCxnSpPr>
        <p:spPr>
          <a:xfrm flipH="1">
            <a:off x="3092817" y="4147722"/>
            <a:ext cx="980797" cy="344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7F01DDAE-8C35-E7A5-E28B-C4722D9F3D64}"/>
              </a:ext>
            </a:extLst>
          </p:cNvPr>
          <p:cNvSpPr/>
          <p:nvPr/>
        </p:nvSpPr>
        <p:spPr>
          <a:xfrm>
            <a:off x="6184936" y="3510892"/>
            <a:ext cx="1601837" cy="21362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AF911C8-E8A4-B8B7-AEA9-8D2638927852}"/>
              </a:ext>
            </a:extLst>
          </p:cNvPr>
          <p:cNvSpPr txBox="1"/>
          <p:nvPr/>
        </p:nvSpPr>
        <p:spPr>
          <a:xfrm>
            <a:off x="6111571" y="3059758"/>
            <a:ext cx="1537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報價</a:t>
            </a:r>
            <a:r>
              <a:rPr lang="en-US" altLang="zh-TW" dirty="0"/>
              <a:t>UI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9FC5CB0-43CF-1ADE-36BC-D37903F0DA7F}"/>
              </a:ext>
            </a:extLst>
          </p:cNvPr>
          <p:cNvSpPr/>
          <p:nvPr/>
        </p:nvSpPr>
        <p:spPr>
          <a:xfrm>
            <a:off x="4278064" y="5235685"/>
            <a:ext cx="1235586" cy="32445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B80960D-93CC-7AB3-40E9-AC5FC88C60E6}"/>
              </a:ext>
            </a:extLst>
          </p:cNvPr>
          <p:cNvSpPr txBox="1"/>
          <p:nvPr/>
        </p:nvSpPr>
        <p:spPr>
          <a:xfrm>
            <a:off x="4387296" y="5277712"/>
            <a:ext cx="1135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查看新任務</a:t>
            </a:r>
            <a:endParaRPr lang="en-US" altLang="zh-TW" sz="12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0A4ED08-E7F2-14D3-4CF5-A8F351B87375}"/>
              </a:ext>
            </a:extLst>
          </p:cNvPr>
          <p:cNvSpPr txBox="1"/>
          <p:nvPr/>
        </p:nvSpPr>
        <p:spPr>
          <a:xfrm>
            <a:off x="512020" y="3903848"/>
            <a:ext cx="1072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Title </a:t>
            </a:r>
          </a:p>
          <a:p>
            <a:r>
              <a:rPr lang="en-US" altLang="zh-TW" dirty="0"/>
              <a:t>Content</a:t>
            </a:r>
          </a:p>
          <a:p>
            <a:r>
              <a:rPr lang="en-US" altLang="zh-TW" dirty="0"/>
              <a:t>Status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F1FD606-6D0E-D2C8-3E85-95C5A3CFF132}"/>
              </a:ext>
            </a:extLst>
          </p:cNvPr>
          <p:cNvSpPr/>
          <p:nvPr/>
        </p:nvSpPr>
        <p:spPr>
          <a:xfrm>
            <a:off x="1015505" y="4840219"/>
            <a:ext cx="538056" cy="37101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9E8D848-A555-91AD-4403-B68D3A66B80B}"/>
              </a:ext>
            </a:extLst>
          </p:cNvPr>
          <p:cNvSpPr txBox="1"/>
          <p:nvPr/>
        </p:nvSpPr>
        <p:spPr>
          <a:xfrm>
            <a:off x="1015505" y="4879548"/>
            <a:ext cx="516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報價</a:t>
            </a:r>
            <a:endParaRPr lang="en-US" altLang="zh-TW" sz="1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3822E0F-4079-FB17-428E-4CBB09755ABD}"/>
              </a:ext>
            </a:extLst>
          </p:cNvPr>
          <p:cNvSpPr/>
          <p:nvPr/>
        </p:nvSpPr>
        <p:spPr>
          <a:xfrm>
            <a:off x="563493" y="5258668"/>
            <a:ext cx="672700" cy="37101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97371CE-7B6E-2288-6C15-7485E342156A}"/>
              </a:ext>
            </a:extLst>
          </p:cNvPr>
          <p:cNvSpPr txBox="1"/>
          <p:nvPr/>
        </p:nvSpPr>
        <p:spPr>
          <a:xfrm>
            <a:off x="563493" y="5297997"/>
            <a:ext cx="67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接受 </a:t>
            </a:r>
            <a:r>
              <a:rPr lang="en-US" altLang="zh-TW" sz="1200" dirty="0"/>
              <a:t>2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90ED898-378A-4301-137E-9BB569091A83}"/>
              </a:ext>
            </a:extLst>
          </p:cNvPr>
          <p:cNvSpPr/>
          <p:nvPr/>
        </p:nvSpPr>
        <p:spPr>
          <a:xfrm>
            <a:off x="563493" y="5681484"/>
            <a:ext cx="672700" cy="37101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6D0E0D90-761B-78D1-E52D-AB9F84D310E1}"/>
              </a:ext>
            </a:extLst>
          </p:cNvPr>
          <p:cNvSpPr txBox="1"/>
          <p:nvPr/>
        </p:nvSpPr>
        <p:spPr>
          <a:xfrm>
            <a:off x="563493" y="5720813"/>
            <a:ext cx="67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接受 </a:t>
            </a:r>
            <a:r>
              <a:rPr lang="en-US" altLang="zh-TW" sz="1200" dirty="0"/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9C85963-0AE0-E2F9-2BB7-0EDA3786A732}"/>
              </a:ext>
            </a:extLst>
          </p:cNvPr>
          <p:cNvSpPr/>
          <p:nvPr/>
        </p:nvSpPr>
        <p:spPr>
          <a:xfrm>
            <a:off x="1010324" y="6165881"/>
            <a:ext cx="538056" cy="37101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FEF434B-DFF8-9481-751A-B420D925D6C9}"/>
              </a:ext>
            </a:extLst>
          </p:cNvPr>
          <p:cNvSpPr txBox="1"/>
          <p:nvPr/>
        </p:nvSpPr>
        <p:spPr>
          <a:xfrm>
            <a:off x="1010324" y="6205210"/>
            <a:ext cx="516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上傳</a:t>
            </a:r>
            <a:endParaRPr lang="en-US" altLang="zh-TW" sz="1200" dirty="0"/>
          </a:p>
        </p:txBody>
      </p:sp>
      <p:cxnSp>
        <p:nvCxnSpPr>
          <p:cNvPr id="75" name="接點: 弧形 74">
            <a:extLst>
              <a:ext uri="{FF2B5EF4-FFF2-40B4-BE49-F238E27FC236}">
                <a16:creationId xmlns:a16="http://schemas.microsoft.com/office/drawing/2014/main" id="{4C2A170C-FB8E-C322-1C66-9513CEB3CDCC}"/>
              </a:ext>
            </a:extLst>
          </p:cNvPr>
          <p:cNvCxnSpPr>
            <a:stCxn id="60" idx="3"/>
            <a:endCxn id="55" idx="1"/>
          </p:cNvCxnSpPr>
          <p:nvPr/>
        </p:nvCxnSpPr>
        <p:spPr>
          <a:xfrm flipV="1">
            <a:off x="1553561" y="3244424"/>
            <a:ext cx="4558010" cy="1781304"/>
          </a:xfrm>
          <a:prstGeom prst="curvedConnector3">
            <a:avLst>
              <a:gd name="adj1" fmla="val 152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4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FCAA28E-FD14-27C7-60D9-241295AC6071}"/>
              </a:ext>
            </a:extLst>
          </p:cNvPr>
          <p:cNvSpPr txBox="1"/>
          <p:nvPr/>
        </p:nvSpPr>
        <p:spPr>
          <a:xfrm>
            <a:off x="479078" y="537092"/>
            <a:ext cx="227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委託工作的狀態管理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70BDBD-C67B-05D5-05E8-24F896F141B4}"/>
              </a:ext>
            </a:extLst>
          </p:cNvPr>
          <p:cNvSpPr txBox="1"/>
          <p:nvPr/>
        </p:nvSpPr>
        <p:spPr>
          <a:xfrm>
            <a:off x="479078" y="1299093"/>
            <a:ext cx="553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新工作   </a:t>
            </a:r>
            <a:r>
              <a:rPr lang="en-US" altLang="zh-TW" dirty="0"/>
              <a:t>&gt;&gt;</a:t>
            </a:r>
            <a:r>
              <a:rPr lang="zh-TW" altLang="en-US" dirty="0"/>
              <a:t>   狀態一   </a:t>
            </a:r>
            <a:r>
              <a:rPr lang="en-US" altLang="zh-TW" dirty="0"/>
              <a:t>&gt;&gt;</a:t>
            </a:r>
            <a:r>
              <a:rPr lang="zh-TW" altLang="en-US" dirty="0"/>
              <a:t>   狀態二   </a:t>
            </a:r>
            <a:r>
              <a:rPr lang="en-US" altLang="zh-TW" dirty="0"/>
              <a:t>&gt;&gt;</a:t>
            </a:r>
            <a:r>
              <a:rPr lang="zh-TW" altLang="en-US" dirty="0"/>
              <a:t>   狀態三   </a:t>
            </a:r>
            <a:r>
              <a:rPr lang="en-US" altLang="zh-TW" dirty="0"/>
              <a:t>&gt;&gt;</a:t>
            </a:r>
            <a:r>
              <a:rPr lang="zh-TW" altLang="en-US" dirty="0"/>
              <a:t>  </a:t>
            </a:r>
            <a:r>
              <a:rPr lang="en-US" altLang="zh-TW" dirty="0"/>
              <a:t> ...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44CF65-A130-012F-47A0-3962AFD3AB09}"/>
              </a:ext>
            </a:extLst>
          </p:cNvPr>
          <p:cNvSpPr txBox="1"/>
          <p:nvPr/>
        </p:nvSpPr>
        <p:spPr>
          <a:xfrm>
            <a:off x="2257609" y="956820"/>
            <a:ext cx="99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操作一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57BF92-4279-7191-EE6A-55BF403D0C51}"/>
              </a:ext>
            </a:extLst>
          </p:cNvPr>
          <p:cNvSpPr txBox="1"/>
          <p:nvPr/>
        </p:nvSpPr>
        <p:spPr>
          <a:xfrm>
            <a:off x="3570216" y="929761"/>
            <a:ext cx="99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操作二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508C799-DF0E-029E-0EE0-158DC7FE146F}"/>
              </a:ext>
            </a:extLst>
          </p:cNvPr>
          <p:cNvSpPr txBox="1"/>
          <p:nvPr/>
        </p:nvSpPr>
        <p:spPr>
          <a:xfrm>
            <a:off x="1616054" y="1728653"/>
            <a:ext cx="802681" cy="31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accent4"/>
                </a:solidFill>
              </a:rPr>
              <a:t>報價中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E33DC7-EA03-9CE8-5EBD-40DB72C821CA}"/>
              </a:ext>
            </a:extLst>
          </p:cNvPr>
          <p:cNvSpPr txBox="1"/>
          <p:nvPr/>
        </p:nvSpPr>
        <p:spPr>
          <a:xfrm>
            <a:off x="2275490" y="1720584"/>
            <a:ext cx="955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00B050"/>
                </a:solidFill>
              </a:rPr>
              <a:t>接受報價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A40BD7-4A01-4C4F-3838-6E4B58F1466F}"/>
              </a:ext>
            </a:extLst>
          </p:cNvPr>
          <p:cNvSpPr txBox="1"/>
          <p:nvPr/>
        </p:nvSpPr>
        <p:spPr>
          <a:xfrm>
            <a:off x="3078171" y="1729980"/>
            <a:ext cx="80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accent4"/>
                </a:solidFill>
              </a:rPr>
              <a:t>執行中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5FF970-B0A3-399D-E9F4-50C4E77D4BFC}"/>
              </a:ext>
            </a:extLst>
          </p:cNvPr>
          <p:cNvSpPr txBox="1"/>
          <p:nvPr/>
        </p:nvSpPr>
        <p:spPr>
          <a:xfrm>
            <a:off x="3605979" y="1729980"/>
            <a:ext cx="955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00B050"/>
                </a:solidFill>
              </a:rPr>
              <a:t>上傳檔案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CBE0601-22B5-46CE-CD6C-308FD10A50A9}"/>
              </a:ext>
            </a:extLst>
          </p:cNvPr>
          <p:cNvSpPr txBox="1"/>
          <p:nvPr/>
        </p:nvSpPr>
        <p:spPr>
          <a:xfrm>
            <a:off x="4408660" y="1718821"/>
            <a:ext cx="80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accent4"/>
                </a:solidFill>
              </a:rPr>
              <a:t>等結案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727249C-A47C-4BB6-8E50-CC09FDEDA687}"/>
              </a:ext>
            </a:extLst>
          </p:cNvPr>
          <p:cNvCxnSpPr>
            <a:stCxn id="6" idx="2"/>
          </p:cNvCxnSpPr>
          <p:nvPr/>
        </p:nvCxnSpPr>
        <p:spPr>
          <a:xfrm>
            <a:off x="2017395" y="2047589"/>
            <a:ext cx="1060776" cy="921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65B5535-12A3-2C2E-F1A0-F3E9BFAF0D0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753031" y="2028361"/>
            <a:ext cx="536196" cy="940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27E3351-F2F2-D78D-498A-009BFEA4E92A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412467" y="2037757"/>
            <a:ext cx="67045" cy="93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6CF4266-FECB-FE54-FCB9-02F71A674B09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696929" y="2037757"/>
            <a:ext cx="386591" cy="93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10602B3-7177-13DD-688A-D43EC200F91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890224" y="2026598"/>
            <a:ext cx="919777" cy="94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F02D939-9CE5-0A12-C8DE-42124D6A845E}"/>
              </a:ext>
            </a:extLst>
          </p:cNvPr>
          <p:cNvSpPr txBox="1"/>
          <p:nvPr/>
        </p:nvSpPr>
        <p:spPr>
          <a:xfrm>
            <a:off x="2418735" y="3103612"/>
            <a:ext cx="229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Domain Object Status</a:t>
            </a:r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BEBF10-4249-C61A-BF0A-E31A9B2621FB}"/>
              </a:ext>
            </a:extLst>
          </p:cNvPr>
          <p:cNvSpPr/>
          <p:nvPr/>
        </p:nvSpPr>
        <p:spPr>
          <a:xfrm>
            <a:off x="1717509" y="1304917"/>
            <a:ext cx="827693" cy="39056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FFB146-B2CE-2855-4EB9-F383E4F1D54A}"/>
              </a:ext>
            </a:extLst>
          </p:cNvPr>
          <p:cNvSpPr/>
          <p:nvPr/>
        </p:nvSpPr>
        <p:spPr>
          <a:xfrm>
            <a:off x="2955940" y="1299239"/>
            <a:ext cx="827693" cy="39056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DD09F0-F785-858A-001B-FFC2E86E1DA3}"/>
              </a:ext>
            </a:extLst>
          </p:cNvPr>
          <p:cNvSpPr/>
          <p:nvPr/>
        </p:nvSpPr>
        <p:spPr>
          <a:xfrm>
            <a:off x="4147213" y="1307971"/>
            <a:ext cx="827693" cy="39056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B610D20-D538-EBFE-BA4C-B7FE706CD102}"/>
              </a:ext>
            </a:extLst>
          </p:cNvPr>
          <p:cNvSpPr txBox="1"/>
          <p:nvPr/>
        </p:nvSpPr>
        <p:spPr>
          <a:xfrm>
            <a:off x="599951" y="3800169"/>
            <a:ext cx="162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State Diagram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C99B67A-75F4-4F8A-0FB5-CDEAB9BE9709}"/>
              </a:ext>
            </a:extLst>
          </p:cNvPr>
          <p:cNvSpPr txBox="1"/>
          <p:nvPr/>
        </p:nvSpPr>
        <p:spPr>
          <a:xfrm>
            <a:off x="394207" y="4549526"/>
            <a:ext cx="8650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State 1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F313B52-63B3-01A2-DBAF-7B0937905104}"/>
              </a:ext>
            </a:extLst>
          </p:cNvPr>
          <p:cNvSpPr txBox="1"/>
          <p:nvPr/>
        </p:nvSpPr>
        <p:spPr>
          <a:xfrm>
            <a:off x="2588601" y="4576585"/>
            <a:ext cx="8650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State 2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E9102D4-2A71-4013-EFC4-5C06FDC6283E}"/>
              </a:ext>
            </a:extLst>
          </p:cNvPr>
          <p:cNvSpPr txBox="1"/>
          <p:nvPr/>
        </p:nvSpPr>
        <p:spPr>
          <a:xfrm>
            <a:off x="4408660" y="4576585"/>
            <a:ext cx="8650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State 3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3923318-8156-8E6F-327D-FA8817F6B03B}"/>
              </a:ext>
            </a:extLst>
          </p:cNvPr>
          <p:cNvSpPr txBox="1"/>
          <p:nvPr/>
        </p:nvSpPr>
        <p:spPr>
          <a:xfrm>
            <a:off x="6413702" y="4576585"/>
            <a:ext cx="8650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State 4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0C74F38-2EB9-99BD-48FB-B9E5730D6B66}"/>
              </a:ext>
            </a:extLst>
          </p:cNvPr>
          <p:cNvSpPr txBox="1"/>
          <p:nvPr/>
        </p:nvSpPr>
        <p:spPr>
          <a:xfrm>
            <a:off x="8512703" y="4576585"/>
            <a:ext cx="8650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State 5</a:t>
            </a:r>
            <a:endParaRPr lang="zh-TW" altLang="en-US" dirty="0"/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69491CA4-828D-434D-EF2B-4A5D4A5A6A0A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259262" y="4734192"/>
            <a:ext cx="1329339" cy="27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D39E69C-E39F-4966-D2D7-E93D22C26922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3453656" y="4761251"/>
            <a:ext cx="9550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D60FA977-50BC-D86D-A39B-131C78DA8474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5273715" y="4761251"/>
            <a:ext cx="11399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A8F65F8C-1635-AAF1-2B30-49B25EDD97F0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7278757" y="4761251"/>
            <a:ext cx="12339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接點: 弧形 45">
            <a:extLst>
              <a:ext uri="{FF2B5EF4-FFF2-40B4-BE49-F238E27FC236}">
                <a16:creationId xmlns:a16="http://schemas.microsoft.com/office/drawing/2014/main" id="{EBA7C1D5-F19B-33D6-61C3-267730FF4F2E}"/>
              </a:ext>
            </a:extLst>
          </p:cNvPr>
          <p:cNvCxnSpPr>
            <a:cxnSpLocks/>
            <a:stCxn id="31" idx="2"/>
            <a:endCxn id="30" idx="0"/>
          </p:cNvCxnSpPr>
          <p:nvPr/>
        </p:nvCxnSpPr>
        <p:spPr>
          <a:xfrm rot="5400000" flipH="1">
            <a:off x="1725736" y="3650525"/>
            <a:ext cx="396391" cy="2194394"/>
          </a:xfrm>
          <a:prstGeom prst="curvedConnector5">
            <a:avLst>
              <a:gd name="adj1" fmla="val -57670"/>
              <a:gd name="adj2" fmla="val 50000"/>
              <a:gd name="adj3" fmla="val 1576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F10FC9A-4784-4C82-F3FD-B79B0035FBE4}"/>
              </a:ext>
            </a:extLst>
          </p:cNvPr>
          <p:cNvSpPr txBox="1"/>
          <p:nvPr/>
        </p:nvSpPr>
        <p:spPr>
          <a:xfrm>
            <a:off x="1816143" y="4354167"/>
            <a:ext cx="64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條件</a:t>
            </a: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4746CF8-487C-F8F1-8E8C-7A7B68C7F59F}"/>
              </a:ext>
            </a:extLst>
          </p:cNvPr>
          <p:cNvSpPr txBox="1"/>
          <p:nvPr/>
        </p:nvSpPr>
        <p:spPr>
          <a:xfrm>
            <a:off x="3607106" y="4299587"/>
            <a:ext cx="64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條件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7E4682FD-E729-8C59-3C24-A8E2FD4660EF}"/>
              </a:ext>
            </a:extLst>
          </p:cNvPr>
          <p:cNvSpPr txBox="1"/>
          <p:nvPr/>
        </p:nvSpPr>
        <p:spPr>
          <a:xfrm>
            <a:off x="5489156" y="4299586"/>
            <a:ext cx="64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條件</a:t>
            </a: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79790851-DC1A-FE29-652F-F2B79FE80C6E}"/>
              </a:ext>
            </a:extLst>
          </p:cNvPr>
          <p:cNvCxnSpPr>
            <a:cxnSpLocks/>
            <a:stCxn id="33" idx="2"/>
            <a:endCxn id="68" idx="0"/>
          </p:cNvCxnSpPr>
          <p:nvPr/>
        </p:nvCxnSpPr>
        <p:spPr>
          <a:xfrm flipH="1">
            <a:off x="6257555" y="4945917"/>
            <a:ext cx="588675" cy="39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75332514-6035-5A1B-E087-4ACFAAAB0D6C}"/>
              </a:ext>
            </a:extLst>
          </p:cNvPr>
          <p:cNvSpPr/>
          <p:nvPr/>
        </p:nvSpPr>
        <p:spPr>
          <a:xfrm>
            <a:off x="5843708" y="5337345"/>
            <a:ext cx="827693" cy="39056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51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AA5B00F-F3CC-7BCC-4E97-85E5848C66F0}"/>
              </a:ext>
            </a:extLst>
          </p:cNvPr>
          <p:cNvSpPr txBox="1"/>
          <p:nvPr/>
        </p:nvSpPr>
        <p:spPr>
          <a:xfrm>
            <a:off x="452283" y="373065"/>
            <a:ext cx="4689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from Model import </a:t>
            </a:r>
            <a:r>
              <a:rPr lang="en-US" altLang="zh-TW" dirty="0" err="1"/>
              <a:t>getUser</a:t>
            </a:r>
            <a:r>
              <a:rPr lang="en-US" altLang="zh-TW" dirty="0"/>
              <a:t> Jobs</a:t>
            </a:r>
          </a:p>
          <a:p>
            <a:endParaRPr lang="en-US" altLang="zh-TW" dirty="0"/>
          </a:p>
          <a:p>
            <a:r>
              <a:rPr lang="en-US" altLang="zh-TW" dirty="0" err="1"/>
              <a:t>app.get</a:t>
            </a:r>
            <a:r>
              <a:rPr lang="en-US" altLang="zh-TW" dirty="0"/>
              <a:t>(“\”)</a:t>
            </a:r>
          </a:p>
          <a:p>
            <a:r>
              <a:rPr lang="en-US" altLang="zh-TW" dirty="0"/>
              <a:t>def home (</a:t>
            </a:r>
            <a:r>
              <a:rPr lang="en-US" altLang="zh-TW" dirty="0" err="1"/>
              <a:t>uID</a:t>
            </a:r>
            <a:r>
              <a:rPr lang="en-US" altLang="zh-TW" dirty="0"/>
              <a:t>=Depend(</a:t>
            </a:r>
            <a:r>
              <a:rPr lang="en-US" altLang="zh-TW" dirty="0" err="1"/>
              <a:t>getCurrentLoginUser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jobList</a:t>
            </a:r>
            <a:r>
              <a:rPr lang="en-US" altLang="zh-TW" dirty="0"/>
              <a:t>=</a:t>
            </a:r>
            <a:r>
              <a:rPr lang="en-US" altLang="zh-TW" dirty="0" err="1"/>
              <a:t>getUserJobs</a:t>
            </a:r>
            <a:r>
              <a:rPr lang="en-US" altLang="zh-TW" dirty="0"/>
              <a:t>(</a:t>
            </a:r>
            <a:r>
              <a:rPr lang="en-US" altLang="zh-TW" dirty="0" err="1"/>
              <a:t>uID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Render template(“</a:t>
            </a:r>
            <a:r>
              <a:rPr lang="zh-TW" altLang="en-US" dirty="0"/>
              <a:t>甲</a:t>
            </a:r>
            <a:r>
              <a:rPr lang="en-US" altLang="zh-TW" dirty="0"/>
              <a:t>.html”,  </a:t>
            </a:r>
            <a:r>
              <a:rPr lang="en-US" altLang="zh-TW" dirty="0" err="1"/>
              <a:t>jobList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app.get</a:t>
            </a:r>
            <a:r>
              <a:rPr lang="en-US" altLang="zh-TW" dirty="0"/>
              <a:t>(“\</a:t>
            </a:r>
            <a:r>
              <a:rPr lang="en-US" altLang="zh-TW" dirty="0" err="1"/>
              <a:t>setContract</a:t>
            </a:r>
            <a:r>
              <a:rPr lang="en-US" altLang="zh-TW" dirty="0"/>
              <a:t>\{</a:t>
            </a:r>
            <a:r>
              <a:rPr lang="en-US" altLang="zh-TW" dirty="0" err="1"/>
              <a:t>uID</a:t>
            </a:r>
            <a:r>
              <a:rPr lang="en-US" altLang="zh-TW" dirty="0"/>
              <a:t>}\{</a:t>
            </a:r>
            <a:r>
              <a:rPr lang="en-US" altLang="zh-TW" dirty="0" err="1"/>
              <a:t>jobID</a:t>
            </a:r>
            <a:r>
              <a:rPr lang="en-US" altLang="zh-TW" dirty="0"/>
              <a:t>}”)</a:t>
            </a:r>
          </a:p>
          <a:p>
            <a:r>
              <a:rPr lang="en-US" altLang="zh-TW" dirty="0"/>
              <a:t>def </a:t>
            </a:r>
            <a:r>
              <a:rPr lang="en-US" altLang="zh-TW" dirty="0" err="1"/>
              <a:t>setCont</a:t>
            </a:r>
            <a:r>
              <a:rPr lang="en-US" altLang="zh-TW" dirty="0"/>
              <a:t>(</a:t>
            </a:r>
            <a:r>
              <a:rPr lang="en-US" altLang="zh-TW" dirty="0" err="1"/>
              <a:t>uID:integer</a:t>
            </a:r>
            <a:r>
              <a:rPr lang="en-US" altLang="zh-TW" dirty="0"/>
              <a:t>, </a:t>
            </a:r>
            <a:r>
              <a:rPr lang="en-US" altLang="zh-TW" dirty="0" err="1"/>
              <a:t>jobID:integer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setContrater</a:t>
            </a:r>
            <a:r>
              <a:rPr lang="en-US" altLang="zh-TW" dirty="0"/>
              <a:t>(</a:t>
            </a:r>
            <a:r>
              <a:rPr lang="en-US" altLang="zh-TW" dirty="0" err="1"/>
              <a:t>uID</a:t>
            </a:r>
            <a:r>
              <a:rPr lang="en-US" altLang="zh-TW" dirty="0"/>
              <a:t>, </a:t>
            </a:r>
            <a:r>
              <a:rPr lang="en-US" altLang="zh-TW" dirty="0" err="1"/>
              <a:t>jobID</a:t>
            </a:r>
            <a:r>
              <a:rPr lang="en-US" altLang="zh-TW" dirty="0"/>
              <a:t>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444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347</Words>
  <Application>Microsoft Office PowerPoint</Application>
  <PresentationFormat>寬螢幕</PresentationFormat>
  <Paragraphs>107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1141 SE 個人實作專題需求</vt:lpstr>
      <vt:lpstr>工作委託平台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1141 SE 個人實作專題需求</dc:title>
  <dc:creator>buddhist</dc:creator>
  <cp:lastModifiedBy>AZ1644</cp:lastModifiedBy>
  <cp:revision>6</cp:revision>
  <dcterms:created xsi:type="dcterms:W3CDTF">2025-10-07T00:37:40Z</dcterms:created>
  <dcterms:modified xsi:type="dcterms:W3CDTF">2025-10-21T02:44:55Z</dcterms:modified>
</cp:coreProperties>
</file>